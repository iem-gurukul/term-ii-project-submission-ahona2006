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legreya Sans SC" charset="1" panose="00000500000000000000"/>
      <p:regular r:id="rId13"/>
    </p:embeddedFont>
    <p:embeddedFont>
      <p:font typeface="Fira Sans" charset="1" panose="020B0503050000020004"/>
      <p:regular r:id="rId14"/>
    </p:embeddedFont>
    <p:embeddedFont>
      <p:font typeface="Alegreya Sans SC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476399" y="2173146"/>
            <a:ext cx="5249238" cy="6896447"/>
          </a:xfrm>
          <a:custGeom>
            <a:avLst/>
            <a:gdLst/>
            <a:ahLst/>
            <a:cxnLst/>
            <a:rect r="r" b="b" t="t" l="l"/>
            <a:pathLst>
              <a:path h="6896447" w="5249238">
                <a:moveTo>
                  <a:pt x="0" y="0"/>
                </a:moveTo>
                <a:lnTo>
                  <a:pt x="5249238" y="0"/>
                </a:lnTo>
                <a:lnTo>
                  <a:pt x="5249238" y="6896447"/>
                </a:lnTo>
                <a:lnTo>
                  <a:pt x="0" y="689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-10800000">
            <a:off x="-286818" y="1217407"/>
            <a:ext cx="5208407" cy="6842803"/>
          </a:xfrm>
          <a:custGeom>
            <a:avLst/>
            <a:gdLst/>
            <a:ahLst/>
            <a:cxnLst/>
            <a:rect r="r" b="b" t="t" l="l"/>
            <a:pathLst>
              <a:path h="6842803" w="5208407">
                <a:moveTo>
                  <a:pt x="0" y="0"/>
                </a:moveTo>
                <a:lnTo>
                  <a:pt x="5208407" y="0"/>
                </a:lnTo>
                <a:lnTo>
                  <a:pt x="5208407" y="6842803"/>
                </a:lnTo>
                <a:lnTo>
                  <a:pt x="0" y="684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4921589" y="3557484"/>
            <a:ext cx="13366411" cy="3043429"/>
          </a:xfrm>
          <a:custGeom>
            <a:avLst/>
            <a:gdLst/>
            <a:ahLst/>
            <a:cxnLst/>
            <a:rect r="r" b="b" t="t" l="l"/>
            <a:pathLst>
              <a:path h="3043429" w="13366411">
                <a:moveTo>
                  <a:pt x="0" y="0"/>
                </a:moveTo>
                <a:lnTo>
                  <a:pt x="13366411" y="0"/>
                </a:lnTo>
                <a:lnTo>
                  <a:pt x="13366411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6072780" y="2096183"/>
            <a:ext cx="6554923" cy="4114800"/>
          </a:xfrm>
          <a:custGeom>
            <a:avLst/>
            <a:gdLst/>
            <a:ahLst/>
            <a:cxnLst/>
            <a:rect r="r" b="b" t="t" l="l"/>
            <a:pathLst>
              <a:path h="4114800" w="6554923">
                <a:moveTo>
                  <a:pt x="0" y="0"/>
                </a:moveTo>
                <a:lnTo>
                  <a:pt x="6554923" y="0"/>
                </a:lnTo>
                <a:lnTo>
                  <a:pt x="6554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780228" y="-659099"/>
            <a:ext cx="11605199" cy="11605199"/>
          </a:xfrm>
          <a:custGeom>
            <a:avLst/>
            <a:gdLst/>
            <a:ahLst/>
            <a:cxnLst/>
            <a:rect r="r" b="b" t="t" l="l"/>
            <a:pathLst>
              <a:path h="11605199" w="11605199">
                <a:moveTo>
                  <a:pt x="0" y="0"/>
                </a:moveTo>
                <a:lnTo>
                  <a:pt x="11605198" y="0"/>
                </a:lnTo>
                <a:lnTo>
                  <a:pt x="11605198" y="11605198"/>
                </a:lnTo>
                <a:lnTo>
                  <a:pt x="0" y="116051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87550" y="1378901"/>
            <a:ext cx="10271632" cy="3646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71"/>
              </a:lnSpc>
            </a:pPr>
            <a:r>
              <a:rPr lang="en-US" sz="12941" spc="3468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Design Patterns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87550" y="5124450"/>
            <a:ext cx="9406672" cy="182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85"/>
              </a:lnSpc>
            </a:pPr>
            <a:r>
              <a:rPr lang="en-US" sz="11866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Java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4080307" y="-1732119"/>
            <a:ext cx="8415386" cy="8415386"/>
          </a:xfrm>
          <a:custGeom>
            <a:avLst/>
            <a:gdLst/>
            <a:ahLst/>
            <a:cxnLst/>
            <a:rect r="r" b="b" t="t" l="l"/>
            <a:pathLst>
              <a:path h="8415386" w="8415386">
                <a:moveTo>
                  <a:pt x="0" y="0"/>
                </a:moveTo>
                <a:lnTo>
                  <a:pt x="8415386" y="0"/>
                </a:lnTo>
                <a:lnTo>
                  <a:pt x="8415386" y="8415386"/>
                </a:lnTo>
                <a:lnTo>
                  <a:pt x="0" y="841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76163" y="4294296"/>
            <a:ext cx="12332073" cy="2551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449" indent="-326225" lvl="1">
              <a:lnSpc>
                <a:spcPts val="4230"/>
              </a:lnSpc>
              <a:buFont typeface="Arial"/>
              <a:buChar char="•"/>
            </a:pPr>
            <a:r>
              <a:rPr lang="en-US" sz="302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Problem Statement: Demonstrate implementation of key object-oriented design patterns in Java</a:t>
            </a:r>
          </a:p>
          <a:p>
            <a:pPr algn="l" marL="652449" indent="-326225" lvl="1">
              <a:lnSpc>
                <a:spcPts val="4230"/>
              </a:lnSpc>
              <a:buFont typeface="Arial"/>
              <a:buChar char="•"/>
            </a:pPr>
            <a:r>
              <a:rPr lang="en-US" sz="302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Target User: Students learning software design and OOP concepts</a:t>
            </a:r>
          </a:p>
          <a:p>
            <a:pPr algn="l" marL="671631" indent="-335815" lvl="1">
              <a:lnSpc>
                <a:spcPts val="4355"/>
              </a:lnSpc>
              <a:buFont typeface="Arial"/>
              <a:buChar char="•"/>
            </a:pPr>
            <a:r>
              <a:rPr lang="en-US" sz="311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Presented by: Ahona Sarkar (CSE IoT, 2nd Year)</a:t>
            </a:r>
          </a:p>
          <a:p>
            <a:pPr algn="l">
              <a:lnSpc>
                <a:spcPts val="3282"/>
              </a:lnSpc>
            </a:pP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-10800000">
            <a:off x="853604" y="472515"/>
            <a:ext cx="2952452" cy="3878930"/>
          </a:xfrm>
          <a:custGeom>
            <a:avLst/>
            <a:gdLst/>
            <a:ahLst/>
            <a:cxnLst/>
            <a:rect r="r" b="b" t="t" l="l"/>
            <a:pathLst>
              <a:path h="3878930" w="2952452">
                <a:moveTo>
                  <a:pt x="0" y="0"/>
                </a:moveTo>
                <a:lnTo>
                  <a:pt x="2952453" y="0"/>
                </a:lnTo>
                <a:lnTo>
                  <a:pt x="2952453" y="3878931"/>
                </a:lnTo>
                <a:lnTo>
                  <a:pt x="0" y="3878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4609329" y="3260610"/>
            <a:ext cx="8415386" cy="8415386"/>
          </a:xfrm>
          <a:custGeom>
            <a:avLst/>
            <a:gdLst/>
            <a:ahLst/>
            <a:cxnLst/>
            <a:rect r="r" b="b" t="t" l="l"/>
            <a:pathLst>
              <a:path h="8415386" w="8415386">
                <a:moveTo>
                  <a:pt x="0" y="0"/>
                </a:moveTo>
                <a:lnTo>
                  <a:pt x="8415386" y="0"/>
                </a:lnTo>
                <a:lnTo>
                  <a:pt x="8415386" y="8415386"/>
                </a:lnTo>
                <a:lnTo>
                  <a:pt x="0" y="841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-10800000">
            <a:off x="0" y="-59259"/>
            <a:ext cx="2952452" cy="3878930"/>
          </a:xfrm>
          <a:custGeom>
            <a:avLst/>
            <a:gdLst/>
            <a:ahLst/>
            <a:cxnLst/>
            <a:rect r="r" b="b" t="t" l="l"/>
            <a:pathLst>
              <a:path h="3878930" w="2952452">
                <a:moveTo>
                  <a:pt x="2952452" y="3878931"/>
                </a:moveTo>
                <a:lnTo>
                  <a:pt x="0" y="3878931"/>
                </a:lnTo>
                <a:lnTo>
                  <a:pt x="0" y="0"/>
                </a:lnTo>
                <a:lnTo>
                  <a:pt x="2952452" y="0"/>
                </a:lnTo>
                <a:lnTo>
                  <a:pt x="2952452" y="387893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4481943" y="5876296"/>
            <a:ext cx="2952452" cy="3878930"/>
          </a:xfrm>
          <a:custGeom>
            <a:avLst/>
            <a:gdLst/>
            <a:ahLst/>
            <a:cxnLst/>
            <a:rect r="r" b="b" t="t" l="l"/>
            <a:pathLst>
              <a:path h="3878930" w="2952452">
                <a:moveTo>
                  <a:pt x="0" y="0"/>
                </a:moveTo>
                <a:lnTo>
                  <a:pt x="2952453" y="0"/>
                </a:lnTo>
                <a:lnTo>
                  <a:pt x="2952453" y="3878930"/>
                </a:lnTo>
                <a:lnTo>
                  <a:pt x="0" y="3878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0">
            <a:off x="15335548" y="6408070"/>
            <a:ext cx="2952452" cy="3878930"/>
          </a:xfrm>
          <a:custGeom>
            <a:avLst/>
            <a:gdLst/>
            <a:ahLst/>
            <a:cxnLst/>
            <a:rect r="r" b="b" t="t" l="l"/>
            <a:pathLst>
              <a:path h="3878930" w="2952452">
                <a:moveTo>
                  <a:pt x="2952452" y="3878930"/>
                </a:moveTo>
                <a:lnTo>
                  <a:pt x="0" y="3878930"/>
                </a:lnTo>
                <a:lnTo>
                  <a:pt x="0" y="0"/>
                </a:lnTo>
                <a:lnTo>
                  <a:pt x="2952452" y="0"/>
                </a:lnTo>
                <a:lnTo>
                  <a:pt x="2952452" y="38789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93172" y="2126231"/>
            <a:ext cx="8719027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92701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14555" y="2032867"/>
            <a:ext cx="9890728" cy="699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Content:</a:t>
            </a:r>
          </a:p>
          <a:p>
            <a:pPr algn="l" marL="577527" indent="-288763" lvl="1">
              <a:lnSpc>
                <a:spcPts val="3744"/>
              </a:lnSpc>
              <a:buFont typeface="Arial"/>
              <a:buChar char="•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Architecture: Modular design using multiple design patterns</a:t>
            </a:r>
          </a:p>
          <a:p>
            <a:pPr algn="l" marL="577527" indent="-288763" lvl="1">
              <a:lnSpc>
                <a:spcPts val="3744"/>
              </a:lnSpc>
              <a:buFont typeface="Arial"/>
              <a:buChar char="•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Key Classes:</a:t>
            </a: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 </a:t>
            </a: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DatabaseConnection (Singleton)</a:t>
            </a:r>
          </a:p>
          <a:p>
            <a:pPr algn="l" marL="1155053" indent="-385018" lvl="2">
              <a:lnSpc>
                <a:spcPts val="3744"/>
              </a:lnSpc>
              <a:buFont typeface="Arial"/>
              <a:buChar char="⚬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DatabaseConnection (Singleton)</a:t>
            </a:r>
          </a:p>
          <a:p>
            <a:pPr algn="l" marL="1155053" indent="-385018" lvl="2">
              <a:lnSpc>
                <a:spcPts val="3744"/>
              </a:lnSpc>
              <a:buFont typeface="Arial"/>
              <a:buChar char="⚬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ShapeFactory (Factory)</a:t>
            </a:r>
          </a:p>
          <a:p>
            <a:pPr algn="l" marL="1155053" indent="-385018" lvl="2">
              <a:lnSpc>
                <a:spcPts val="3744"/>
              </a:lnSpc>
              <a:buFont typeface="Arial"/>
              <a:buChar char="⚬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WeatherData (Observer)</a:t>
            </a:r>
          </a:p>
          <a:p>
            <a:pPr algn="l" marL="1155053" indent="-385018" lvl="2">
              <a:lnSpc>
                <a:spcPts val="3744"/>
              </a:lnSpc>
              <a:buFont typeface="Arial"/>
              <a:buChar char="⚬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FeatureDecorator (Decorator)</a:t>
            </a:r>
          </a:p>
          <a:p>
            <a:pPr algn="l" marL="577527" indent="-288763" lvl="1">
              <a:lnSpc>
                <a:spcPts val="3744"/>
              </a:lnSpc>
              <a:buFont typeface="Arial"/>
              <a:buChar char="•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Package Structure:singleton</a:t>
            </a:r>
          </a:p>
          <a:p>
            <a:pPr algn="l" marL="1155053" indent="-385018" lvl="2">
              <a:lnSpc>
                <a:spcPts val="3744"/>
              </a:lnSpc>
              <a:buFont typeface="Arial"/>
              <a:buChar char="⚬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singleton</a:t>
            </a:r>
          </a:p>
          <a:p>
            <a:pPr algn="l" marL="1155053" indent="-385018" lvl="2">
              <a:lnSpc>
                <a:spcPts val="3744"/>
              </a:lnSpc>
              <a:buFont typeface="Arial"/>
              <a:buChar char="⚬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factory</a:t>
            </a:r>
          </a:p>
          <a:p>
            <a:pPr algn="l" marL="1155053" indent="-385018" lvl="2">
              <a:lnSpc>
                <a:spcPts val="3744"/>
              </a:lnSpc>
              <a:buFont typeface="Arial"/>
              <a:buChar char="⚬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observer</a:t>
            </a:r>
          </a:p>
          <a:p>
            <a:pPr algn="l" marL="1155053" indent="-385018" lvl="2">
              <a:lnSpc>
                <a:spcPts val="3744"/>
              </a:lnSpc>
              <a:buFont typeface="Arial"/>
              <a:buChar char="⚬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decorator</a:t>
            </a:r>
          </a:p>
          <a:p>
            <a:pPr algn="l" marL="1155053" indent="-385018" lvl="2">
              <a:lnSpc>
                <a:spcPts val="3744"/>
              </a:lnSpc>
              <a:buFont typeface="Arial"/>
              <a:buChar char="⚬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strategy</a:t>
            </a:r>
          </a:p>
          <a:p>
            <a:pPr algn="l" marL="1155053" indent="-385018" lvl="2">
              <a:lnSpc>
                <a:spcPts val="3744"/>
              </a:lnSpc>
              <a:buFont typeface="Arial"/>
              <a:buChar char="⚬"/>
            </a:pPr>
            <a:r>
              <a:rPr lang="en-US" sz="267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chain</a:t>
            </a:r>
          </a:p>
          <a:p>
            <a:pPr algn="l">
              <a:lnSpc>
                <a:spcPts val="3744"/>
              </a:lnSpc>
              <a:spcBef>
                <a:spcPct val="0"/>
              </a:spcBef>
            </a:pPr>
          </a:p>
        </p:txBody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-10800000">
            <a:off x="1086558" y="6425555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0">
            <a:off x="239162" y="5259319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-10800000">
            <a:off x="15390121" y="1822870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true" rot="0">
            <a:off x="14542725" y="656634"/>
            <a:ext cx="2182042" cy="2866766"/>
          </a:xfrm>
          <a:custGeom>
            <a:avLst/>
            <a:gdLst/>
            <a:ahLst/>
            <a:cxnLst/>
            <a:rect r="r" b="b" t="t" l="l"/>
            <a:pathLst>
              <a:path h="2866766" w="2182042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51019" y="3918656"/>
            <a:ext cx="8021144" cy="5013798"/>
          </a:xfrm>
          <a:custGeom>
            <a:avLst/>
            <a:gdLst/>
            <a:ahLst/>
            <a:cxnLst/>
            <a:rect r="r" b="b" t="t" l="l"/>
            <a:pathLst>
              <a:path h="5013798" w="8021144">
                <a:moveTo>
                  <a:pt x="0" y="0"/>
                </a:moveTo>
                <a:lnTo>
                  <a:pt x="8021144" y="0"/>
                </a:lnTo>
                <a:lnTo>
                  <a:pt x="8021144" y="5013798"/>
                </a:lnTo>
                <a:lnTo>
                  <a:pt x="0" y="50137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035" t="-3642" r="-5971" b="-1254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80135" y="183889"/>
            <a:ext cx="8719027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System Design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39935" y="2787563"/>
            <a:ext cx="12808130" cy="569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Content:</a:t>
            </a:r>
          </a:p>
          <a:p>
            <a:pPr algn="l" marL="582938" indent="-291469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Abstraction: Interfaces (Shape, Observer, Strategy)</a:t>
            </a:r>
          </a:p>
          <a:p>
            <a:pPr algn="l" marL="582938" indent="-291469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Inheritance: Classes implement interfaces</a:t>
            </a:r>
          </a:p>
          <a:p>
            <a:pPr algn="l" marL="582938" indent="-291469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Polymorphism: Method calls resolved at runtime</a:t>
            </a:r>
          </a:p>
          <a:p>
            <a:pPr algn="l" marL="582938" indent="-291469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Design Patterns Used:</a:t>
            </a:r>
          </a:p>
          <a:p>
            <a:pPr algn="l" marL="1165876" indent="-388625" lvl="2">
              <a:lnSpc>
                <a:spcPts val="3780"/>
              </a:lnSpc>
              <a:buFont typeface="Arial"/>
              <a:buChar char="⚬"/>
            </a:pPr>
            <a:r>
              <a:rPr lang="en-US" sz="27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Singleton</a:t>
            </a:r>
          </a:p>
          <a:p>
            <a:pPr algn="l" marL="1165876" indent="-388625" lvl="2">
              <a:lnSpc>
                <a:spcPts val="3780"/>
              </a:lnSpc>
              <a:buFont typeface="Arial"/>
              <a:buChar char="⚬"/>
            </a:pPr>
            <a:r>
              <a:rPr lang="en-US" sz="27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Factory</a:t>
            </a:r>
          </a:p>
          <a:p>
            <a:pPr algn="l" marL="1165876" indent="-388625" lvl="2">
              <a:lnSpc>
                <a:spcPts val="3780"/>
              </a:lnSpc>
              <a:buFont typeface="Arial"/>
              <a:buChar char="⚬"/>
            </a:pPr>
            <a:r>
              <a:rPr lang="en-US" sz="27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Observer</a:t>
            </a:r>
          </a:p>
          <a:p>
            <a:pPr algn="l" marL="1165876" indent="-388625" lvl="2">
              <a:lnSpc>
                <a:spcPts val="3780"/>
              </a:lnSpc>
              <a:buFont typeface="Arial"/>
              <a:buChar char="⚬"/>
            </a:pPr>
            <a:r>
              <a:rPr lang="en-US" sz="27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Decorator</a:t>
            </a:r>
          </a:p>
          <a:p>
            <a:pPr algn="l" marL="1165876" indent="-388625" lvl="2">
              <a:lnSpc>
                <a:spcPts val="3780"/>
              </a:lnSpc>
              <a:buFont typeface="Arial"/>
              <a:buChar char="⚬"/>
            </a:pPr>
            <a:r>
              <a:rPr lang="en-US" sz="27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Strategy</a:t>
            </a:r>
          </a:p>
          <a:p>
            <a:pPr algn="l" marL="1165876" indent="-388625" lvl="2">
              <a:lnSpc>
                <a:spcPts val="3780"/>
              </a:lnSpc>
              <a:buFont typeface="Arial"/>
              <a:buChar char="⚬"/>
            </a:pPr>
            <a:r>
              <a:rPr lang="en-US" sz="27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Chain of Responsibility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622166" y="317360"/>
            <a:ext cx="8719027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OOP Concepts Used</a:t>
            </a: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5548065" y="6970644"/>
            <a:ext cx="2300142" cy="3021926"/>
          </a:xfrm>
          <a:custGeom>
            <a:avLst/>
            <a:gdLst/>
            <a:ahLst/>
            <a:cxnLst/>
            <a:rect r="r" b="b" t="t" l="l"/>
            <a:pathLst>
              <a:path h="3021926" w="2300142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-10800000">
            <a:off x="15372969" y="5781025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3209211" y="1721233"/>
            <a:ext cx="6538053" cy="6538053"/>
          </a:xfrm>
          <a:custGeom>
            <a:avLst/>
            <a:gdLst/>
            <a:ahLst/>
            <a:cxnLst/>
            <a:rect r="r" b="b" t="t" l="l"/>
            <a:pathLst>
              <a:path h="6538053" w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028700" y="210270"/>
            <a:ext cx="2300142" cy="3021926"/>
          </a:xfrm>
          <a:custGeom>
            <a:avLst/>
            <a:gdLst/>
            <a:ahLst/>
            <a:cxnLst/>
            <a:rect r="r" b="b" t="t" l="l"/>
            <a:pathLst>
              <a:path h="3021926" w="2300142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857631" y="-364188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4960838" y="2114073"/>
            <a:ext cx="6538053" cy="6538053"/>
          </a:xfrm>
          <a:custGeom>
            <a:avLst/>
            <a:gdLst/>
            <a:ahLst/>
            <a:cxnLst/>
            <a:rect r="r" b="b" t="t" l="l"/>
            <a:pathLst>
              <a:path h="6538053" w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511640" y="3582539"/>
            <a:ext cx="316295" cy="316295"/>
          </a:xfrm>
          <a:custGeom>
            <a:avLst/>
            <a:gdLst/>
            <a:ahLst/>
            <a:cxnLst/>
            <a:rect r="r" b="b" t="t" l="l"/>
            <a:pathLst>
              <a:path h="316295" w="316295">
                <a:moveTo>
                  <a:pt x="0" y="0"/>
                </a:moveTo>
                <a:lnTo>
                  <a:pt x="316295" y="0"/>
                </a:lnTo>
                <a:lnTo>
                  <a:pt x="316295" y="316295"/>
                </a:lnTo>
                <a:lnTo>
                  <a:pt x="0" y="316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04223" y="3525389"/>
            <a:ext cx="13876999" cy="253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Content:</a:t>
            </a:r>
          </a:p>
          <a:p>
            <a:pPr algn="just" marL="627154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Factory Pattern for Object Creation</a:t>
            </a:r>
          </a:p>
          <a:p>
            <a:pPr algn="just" marL="627154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Dynamically creates objects based on user input</a:t>
            </a:r>
          </a:p>
          <a:p>
            <a:pPr algn="just" marL="627154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Avoids large if-else or switch conditions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783209" y="184490"/>
            <a:ext cx="8719027" cy="140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Technical Highlight</a:t>
            </a: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3343097" y="3582539"/>
            <a:ext cx="6258128" cy="6258128"/>
          </a:xfrm>
          <a:custGeom>
            <a:avLst/>
            <a:gdLst/>
            <a:ahLst/>
            <a:cxnLst/>
            <a:rect r="r" b="b" t="t" l="l"/>
            <a:pathLst>
              <a:path h="6258128" w="6258128">
                <a:moveTo>
                  <a:pt x="0" y="0"/>
                </a:moveTo>
                <a:lnTo>
                  <a:pt x="6258128" y="0"/>
                </a:lnTo>
                <a:lnTo>
                  <a:pt x="6258128" y="6258128"/>
                </a:lnTo>
                <a:lnTo>
                  <a:pt x="0" y="625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05501" y="6158912"/>
            <a:ext cx="13876999" cy="202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Why chosen:</a:t>
            </a:r>
          </a:p>
          <a:p>
            <a:pPr algn="just" marL="627154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Improves scalability</a:t>
            </a:r>
          </a:p>
          <a:p>
            <a:pPr algn="just" marL="627154" indent="-313577" lvl="1">
              <a:lnSpc>
                <a:spcPts val="4066"/>
              </a:lnSpc>
              <a:buFont typeface="Arial"/>
              <a:buChar char="•"/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Easy to extend (added Triangle without changing existing code)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</a:p>
        </p:txBody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511640" y="6216062"/>
            <a:ext cx="316295" cy="316295"/>
          </a:xfrm>
          <a:custGeom>
            <a:avLst/>
            <a:gdLst/>
            <a:ahLst/>
            <a:cxnLst/>
            <a:rect r="r" b="b" t="t" l="l"/>
            <a:pathLst>
              <a:path h="316295" w="316295">
                <a:moveTo>
                  <a:pt x="0" y="0"/>
                </a:moveTo>
                <a:lnTo>
                  <a:pt x="316295" y="0"/>
                </a:lnTo>
                <a:lnTo>
                  <a:pt x="316295" y="316294"/>
                </a:lnTo>
                <a:lnTo>
                  <a:pt x="0" y="31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1278" y="68356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857631" y="-364188"/>
            <a:ext cx="3772662" cy="4956521"/>
          </a:xfrm>
          <a:custGeom>
            <a:avLst/>
            <a:gdLst/>
            <a:ahLst/>
            <a:cxnLst/>
            <a:rect r="r" b="b" t="t" l="l"/>
            <a:pathLst>
              <a:path h="4956521" w="3772662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5370413" y="-445426"/>
            <a:ext cx="7128693" cy="7128693"/>
          </a:xfrm>
          <a:custGeom>
            <a:avLst/>
            <a:gdLst/>
            <a:ahLst/>
            <a:cxnLst/>
            <a:rect r="r" b="b" t="t" l="l"/>
            <a:pathLst>
              <a:path h="7128693" w="7128693">
                <a:moveTo>
                  <a:pt x="7128693" y="0"/>
                </a:moveTo>
                <a:lnTo>
                  <a:pt x="0" y="0"/>
                </a:lnTo>
                <a:lnTo>
                  <a:pt x="0" y="7128693"/>
                </a:lnTo>
                <a:lnTo>
                  <a:pt x="7128693" y="7128693"/>
                </a:lnTo>
                <a:lnTo>
                  <a:pt x="71286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5551448" y="6691720"/>
            <a:ext cx="2736552" cy="3595280"/>
          </a:xfrm>
          <a:custGeom>
            <a:avLst/>
            <a:gdLst/>
            <a:ahLst/>
            <a:cxnLst/>
            <a:rect r="r" b="b" t="t" l="l"/>
            <a:pathLst>
              <a:path h="3595280" w="2736552">
                <a:moveTo>
                  <a:pt x="2736552" y="0"/>
                </a:moveTo>
                <a:lnTo>
                  <a:pt x="0" y="0"/>
                </a:lnTo>
                <a:lnTo>
                  <a:pt x="0" y="3595280"/>
                </a:lnTo>
                <a:lnTo>
                  <a:pt x="2736552" y="3595280"/>
                </a:lnTo>
                <a:lnTo>
                  <a:pt x="273655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511640" y="3582539"/>
            <a:ext cx="316295" cy="316295"/>
          </a:xfrm>
          <a:custGeom>
            <a:avLst/>
            <a:gdLst/>
            <a:ahLst/>
            <a:cxnLst/>
            <a:rect r="r" b="b" t="t" l="l"/>
            <a:pathLst>
              <a:path h="316295" w="316295">
                <a:moveTo>
                  <a:pt x="0" y="0"/>
                </a:moveTo>
                <a:lnTo>
                  <a:pt x="316295" y="0"/>
                </a:lnTo>
                <a:lnTo>
                  <a:pt x="316295" y="316295"/>
                </a:lnTo>
                <a:lnTo>
                  <a:pt x="0" y="316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06742" y="3525389"/>
            <a:ext cx="13876999" cy="5407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46"/>
              </a:lnSpc>
            </a:pPr>
            <a:r>
              <a:rPr lang="en-US" sz="31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Content:</a:t>
            </a:r>
          </a:p>
          <a:p>
            <a:pPr algn="just" marL="670334" indent="-335167" lvl="1">
              <a:lnSpc>
                <a:spcPts val="4346"/>
              </a:lnSpc>
              <a:buFont typeface="Arial"/>
              <a:buChar char="•"/>
            </a:pPr>
            <a:r>
              <a:rPr lang="en-US" sz="31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Run Main.java</a:t>
            </a:r>
          </a:p>
          <a:p>
            <a:pPr algn="just" marL="670334" indent="-335167" lvl="1">
              <a:lnSpc>
                <a:spcPts val="4346"/>
              </a:lnSpc>
              <a:buFont typeface="Arial"/>
              <a:buChar char="•"/>
            </a:pPr>
            <a:r>
              <a:rPr lang="en-US" sz="31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Show:</a:t>
            </a:r>
          </a:p>
          <a:p>
            <a:pPr algn="just" marL="1340668" indent="-446889" lvl="2">
              <a:lnSpc>
                <a:spcPts val="4346"/>
              </a:lnSpc>
              <a:buFont typeface="Arial"/>
              <a:buChar char="⚬"/>
            </a:pPr>
            <a:r>
              <a:rPr lang="en-US" sz="31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Shape creation (Factory)</a:t>
            </a:r>
          </a:p>
          <a:p>
            <a:pPr algn="just" marL="1340668" indent="-446889" lvl="2">
              <a:lnSpc>
                <a:spcPts val="4346"/>
              </a:lnSpc>
              <a:buFont typeface="Arial"/>
              <a:buChar char="⚬"/>
            </a:pPr>
            <a:r>
              <a:rPr lang="en-US" sz="31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Observer notification (temperature update)</a:t>
            </a:r>
          </a:p>
          <a:p>
            <a:pPr algn="just" marL="1340668" indent="-446889" lvl="2">
              <a:lnSpc>
                <a:spcPts val="4346"/>
              </a:lnSpc>
              <a:buFont typeface="Arial"/>
              <a:buChar char="⚬"/>
            </a:pPr>
            <a:r>
              <a:rPr lang="en-US" sz="31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Decorator adding extra feature</a:t>
            </a:r>
          </a:p>
          <a:p>
            <a:pPr algn="just" marL="670334" indent="-335167" lvl="1">
              <a:lnSpc>
                <a:spcPts val="4346"/>
              </a:lnSpc>
              <a:buFont typeface="Arial"/>
              <a:buChar char="•"/>
            </a:pPr>
            <a:r>
              <a:rPr lang="en-US" sz="31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Error Handling:</a:t>
            </a:r>
          </a:p>
          <a:p>
            <a:pPr algn="just" marL="1340668" indent="-446889" lvl="2">
              <a:lnSpc>
                <a:spcPts val="4346"/>
              </a:lnSpc>
              <a:buFont typeface="Arial"/>
              <a:buChar char="⚬"/>
            </a:pPr>
            <a:r>
              <a:rPr lang="en-US" sz="31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Invalid shape → returns null</a:t>
            </a:r>
          </a:p>
          <a:p>
            <a:pPr algn="just" marL="1340668" indent="-446889" lvl="2">
              <a:lnSpc>
                <a:spcPts val="4346"/>
              </a:lnSpc>
              <a:buFont typeface="Arial"/>
              <a:buChar char="⚬"/>
            </a:pPr>
            <a:r>
              <a:rPr lang="en-US" sz="31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Chain → "Not handled" case</a:t>
            </a:r>
          </a:p>
          <a:p>
            <a:pPr algn="just">
              <a:lnSpc>
                <a:spcPts val="434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805830" y="183889"/>
            <a:ext cx="8719027" cy="140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b="true" sz="7354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Live Demo</a:t>
            </a:r>
          </a:p>
        </p:txBody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0" y="6683267"/>
            <a:ext cx="18288000" cy="4164037"/>
          </a:xfrm>
          <a:custGeom>
            <a:avLst/>
            <a:gdLst/>
            <a:ahLst/>
            <a:cxnLst/>
            <a:rect r="r" b="b" t="t" l="l"/>
            <a:pathLst>
              <a:path h="4164037" w="18288000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0">
            <a:off x="1222889" y="-387411"/>
            <a:ext cx="2567706" cy="3373451"/>
          </a:xfrm>
          <a:custGeom>
            <a:avLst/>
            <a:gdLst/>
            <a:ahLst/>
            <a:cxnLst/>
            <a:rect r="r" b="b" t="t" l="l"/>
            <a:pathLst>
              <a:path h="3373451" w="2567706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-10800000">
            <a:off x="-767315" y="-135036"/>
            <a:ext cx="3274057" cy="4301455"/>
          </a:xfrm>
          <a:custGeom>
            <a:avLst/>
            <a:gdLst/>
            <a:ahLst/>
            <a:cxnLst/>
            <a:rect r="r" b="b" t="t" l="l"/>
            <a:pathLst>
              <a:path h="4301455" w="3274057">
                <a:moveTo>
                  <a:pt x="3274057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7" y="4301455"/>
                </a:lnTo>
                <a:lnTo>
                  <a:pt x="32740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true" rot="-10800000">
            <a:off x="14786756" y="7403374"/>
            <a:ext cx="2582789" cy="3393268"/>
          </a:xfrm>
          <a:custGeom>
            <a:avLst/>
            <a:gdLst/>
            <a:ahLst/>
            <a:cxnLst/>
            <a:rect r="r" b="b" t="t" l="l"/>
            <a:pathLst>
              <a:path h="3393268" w="2582789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true" flipV="false" rot="0">
            <a:off x="16078150" y="6216062"/>
            <a:ext cx="3293290" cy="4326723"/>
          </a:xfrm>
          <a:custGeom>
            <a:avLst/>
            <a:gdLst/>
            <a:ahLst/>
            <a:cxnLst/>
            <a:rect r="r" b="b" t="t" l="l"/>
            <a:pathLst>
              <a:path h="4326723" w="3293290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-476399" y="2173146"/>
            <a:ext cx="5249238" cy="6896447"/>
          </a:xfrm>
          <a:custGeom>
            <a:avLst/>
            <a:gdLst/>
            <a:ahLst/>
            <a:cxnLst/>
            <a:rect r="r" b="b" t="t" l="l"/>
            <a:pathLst>
              <a:path h="6896447" w="5249238">
                <a:moveTo>
                  <a:pt x="0" y="0"/>
                </a:moveTo>
                <a:lnTo>
                  <a:pt x="5249238" y="0"/>
                </a:lnTo>
                <a:lnTo>
                  <a:pt x="5249238" y="6896447"/>
                </a:lnTo>
                <a:lnTo>
                  <a:pt x="0" y="689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-10800000">
            <a:off x="-286818" y="1217407"/>
            <a:ext cx="5208407" cy="6842803"/>
          </a:xfrm>
          <a:custGeom>
            <a:avLst/>
            <a:gdLst/>
            <a:ahLst/>
            <a:cxnLst/>
            <a:rect r="r" b="b" t="t" l="l"/>
            <a:pathLst>
              <a:path h="6842803" w="5208407">
                <a:moveTo>
                  <a:pt x="0" y="0"/>
                </a:moveTo>
                <a:lnTo>
                  <a:pt x="5208407" y="0"/>
                </a:lnTo>
                <a:lnTo>
                  <a:pt x="5208407" y="6842803"/>
                </a:lnTo>
                <a:lnTo>
                  <a:pt x="0" y="684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4921589" y="3557484"/>
            <a:ext cx="13366411" cy="3043429"/>
          </a:xfrm>
          <a:custGeom>
            <a:avLst/>
            <a:gdLst/>
            <a:ahLst/>
            <a:cxnLst/>
            <a:rect r="r" b="b" t="t" l="l"/>
            <a:pathLst>
              <a:path h="3043429" w="13366411">
                <a:moveTo>
                  <a:pt x="0" y="0"/>
                </a:moveTo>
                <a:lnTo>
                  <a:pt x="13366411" y="0"/>
                </a:lnTo>
                <a:lnTo>
                  <a:pt x="13366411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13780228" y="-659099"/>
            <a:ext cx="11605199" cy="11605199"/>
          </a:xfrm>
          <a:custGeom>
            <a:avLst/>
            <a:gdLst/>
            <a:ahLst/>
            <a:cxnLst/>
            <a:rect r="r" b="b" t="t" l="l"/>
            <a:pathLst>
              <a:path h="11605199" w="11605199">
                <a:moveTo>
                  <a:pt x="0" y="0"/>
                </a:moveTo>
                <a:lnTo>
                  <a:pt x="11605198" y="0"/>
                </a:lnTo>
                <a:lnTo>
                  <a:pt x="11605198" y="11605198"/>
                </a:lnTo>
                <a:lnTo>
                  <a:pt x="0" y="11605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15970" y="4223324"/>
            <a:ext cx="7464258" cy="182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85"/>
              </a:lnSpc>
            </a:pPr>
            <a:r>
              <a:rPr lang="en-US" sz="11866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DAHFQBDuFeE</dc:identifier>
  <dcterms:modified xsi:type="dcterms:W3CDTF">2011-08-01T06:04:30Z</dcterms:modified>
  <cp:revision>1</cp:revision>
  <dc:title>Design Patterns</dc:title>
</cp:coreProperties>
</file>